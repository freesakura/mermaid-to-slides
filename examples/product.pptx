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Created with Mermaid to Slides. Nodes and freeform lines are editable. Lines do not automatically reroute when nodes move.
Mermaid source:
flowchart LR
  A([New idea]) --&gt; B[Build prototype]
  B --&gt; C{Ready to ship?}
  C --&gt;|Yes| D[Release]
  C --&gt;|Not yet| E[Collect feedback]
  E --&gt; B
  D --&gt; F([Measure impact])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gram title"/>
          <p:cNvSpPr/>
          <p:nvPr/>
        </p:nvSpPr>
        <p:spPr>
          <a:xfrm>
            <a:off x="548640" y="347472"/>
            <a:ext cx="11064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72333"/>
                </a:solidFill>
              </a:rPr>
              <a:t>From idea to release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932688"/>
            <a:ext cx="11091672" cy="0"/>
          </a:xfrm>
          <a:prstGeom prst="line">
            <a:avLst/>
          </a:prstGeom>
          <a:noFill/>
          <a:ln w="12700">
            <a:solidFill>
              <a:srgbClr val="138264"/>
            </a:solidFill>
            <a:prstDash val="solid"/>
          </a:ln>
        </p:spPr>
      </p:sp>
      <p:sp>
        <p:nvSpPr>
          <p:cNvPr id="4" name="edge:e0"/>
          <p:cNvSpPr/>
          <p:nvPr/>
        </p:nvSpPr>
        <p:spPr>
          <a:xfrm>
            <a:off x="2197442" y="3623556"/>
            <a:ext cx="611846" cy="1"/>
          </a:xfrm>
          <a:custGeom>
            <a:avLst/>
            <a:gdLst/>
            <a:ahLst/>
            <a:cxnLst/>
            <a:rect l="0" t="0" r="r" b="b"/>
            <a:pathLst>
              <a:path w="611846" h="1" fill="none">
                <a:moveTo>
                  <a:pt x="0" y="0"/>
                </a:moveTo>
                <a:lnTo>
                  <a:pt x="305923" y="0"/>
                </a:lnTo>
                <a:lnTo>
                  <a:pt x="611846" y="0"/>
                </a:lnTo>
              </a:path>
            </a:pathLst>
          </a:custGeom>
          <a:noFill/>
          <a:ln w="15240">
            <a:solidFill>
              <a:srgbClr val="64748B"/>
            </a:solidFill>
            <a:tailEnd type="triangle" w="sm" len="sm"/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" name="edge:e1"/>
          <p:cNvSpPr/>
          <p:nvPr/>
        </p:nvSpPr>
        <p:spPr>
          <a:xfrm>
            <a:off x="4252617" y="3882474"/>
            <a:ext cx="611846" cy="109759"/>
          </a:xfrm>
          <a:custGeom>
            <a:avLst/>
            <a:gdLst/>
            <a:ahLst/>
            <a:cxnLst/>
            <a:rect l="0" t="0" r="r" b="b"/>
            <a:pathLst>
              <a:path w="611846" h="109759" fill="none">
                <a:moveTo>
                  <a:pt x="0" y="0"/>
                </a:moveTo>
                <a:lnTo>
                  <a:pt x="305923" y="109759"/>
                </a:lnTo>
                <a:lnTo>
                  <a:pt x="611846" y="109759"/>
                </a:lnTo>
              </a:path>
            </a:pathLst>
          </a:custGeom>
          <a:noFill/>
          <a:ln w="15240">
            <a:solidFill>
              <a:srgbClr val="64748B"/>
            </a:solidFill>
            <a:tailEnd type="triangle" w="sm" len="sm"/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edge:e2"/>
          <p:cNvSpPr/>
          <p:nvPr/>
        </p:nvSpPr>
        <p:spPr>
          <a:xfrm>
            <a:off x="6497155" y="4089150"/>
            <a:ext cx="1442227" cy="107031"/>
          </a:xfrm>
          <a:custGeom>
            <a:avLst/>
            <a:gdLst/>
            <a:ahLst/>
            <a:cxnLst/>
            <a:rect l="0" t="0" r="r" b="b"/>
            <a:pathLst>
              <a:path w="1442227" h="107031" fill="none">
                <a:moveTo>
                  <a:pt x="0" y="0"/>
                </a:moveTo>
                <a:lnTo>
                  <a:pt x="806849" y="107031"/>
                </a:lnTo>
                <a:lnTo>
                  <a:pt x="1442227" y="107031"/>
                </a:lnTo>
              </a:path>
            </a:pathLst>
          </a:custGeom>
          <a:noFill/>
          <a:ln w="15240">
            <a:solidFill>
              <a:srgbClr val="64748B"/>
            </a:solidFill>
            <a:tailEnd type="triangle" w="sm" len="sm"/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edge:e3"/>
          <p:cNvSpPr/>
          <p:nvPr/>
        </p:nvSpPr>
        <p:spPr>
          <a:xfrm>
            <a:off x="6376712" y="3403873"/>
            <a:ext cx="1562670" cy="423365"/>
          </a:xfrm>
          <a:custGeom>
            <a:avLst/>
            <a:gdLst/>
            <a:ahLst/>
            <a:cxnLst/>
            <a:rect l="0" t="0" r="r" b="b"/>
            <a:pathLst>
              <a:path w="1562670" h="423365" fill="none">
                <a:moveTo>
                  <a:pt x="0" y="423365"/>
                </a:moveTo>
                <a:lnTo>
                  <a:pt x="927292" y="172617"/>
                </a:lnTo>
                <a:lnTo>
                  <a:pt x="1562670" y="0"/>
                </a:lnTo>
              </a:path>
            </a:pathLst>
          </a:custGeom>
          <a:noFill/>
          <a:ln w="15240">
            <a:solidFill>
              <a:srgbClr val="64748B"/>
            </a:solidFill>
            <a:tailEnd type="triangle" w="sm" len="sm"/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edge:e4"/>
          <p:cNvSpPr/>
          <p:nvPr/>
        </p:nvSpPr>
        <p:spPr>
          <a:xfrm>
            <a:off x="4023037" y="3066619"/>
            <a:ext cx="3916345" cy="290235"/>
          </a:xfrm>
          <a:custGeom>
            <a:avLst/>
            <a:gdLst/>
            <a:ahLst/>
            <a:cxnLst/>
            <a:rect l="0" t="0" r="r" b="b"/>
            <a:pathLst>
              <a:path w="3916345" h="290235" fill="none">
                <a:moveTo>
                  <a:pt x="3916345" y="66109"/>
                </a:moveTo>
                <a:lnTo>
                  <a:pt x="3280967" y="0"/>
                </a:lnTo>
                <a:lnTo>
                  <a:pt x="1743507" y="0"/>
                </a:lnTo>
                <a:lnTo>
                  <a:pt x="535503" y="0"/>
                </a:lnTo>
                <a:lnTo>
                  <a:pt x="0" y="290235"/>
                </a:lnTo>
              </a:path>
            </a:pathLst>
          </a:custGeom>
          <a:noFill/>
          <a:ln w="15240">
            <a:solidFill>
              <a:srgbClr val="64748B"/>
            </a:solidFill>
            <a:tailEnd type="triangle" w="sm" len="sm"/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edge:e5"/>
          <p:cNvSpPr/>
          <p:nvPr/>
        </p:nvSpPr>
        <p:spPr>
          <a:xfrm>
            <a:off x="9382712" y="4196181"/>
            <a:ext cx="611846" cy="1"/>
          </a:xfrm>
          <a:custGeom>
            <a:avLst/>
            <a:gdLst/>
            <a:ahLst/>
            <a:cxnLst/>
            <a:rect l="0" t="0" r="r" b="b"/>
            <a:pathLst>
              <a:path w="611846" h="1" fill="none">
                <a:moveTo>
                  <a:pt x="0" y="0"/>
                </a:moveTo>
                <a:lnTo>
                  <a:pt x="305923" y="0"/>
                </a:lnTo>
                <a:lnTo>
                  <a:pt x="611846" y="0"/>
                </a:lnTo>
              </a:path>
            </a:pathLst>
          </a:custGeom>
          <a:noFill/>
          <a:ln w="15240">
            <a:solidFill>
              <a:srgbClr val="64748B"/>
            </a:solidFill>
            <a:tailEnd type="triangle" w="sm" len="sm"/>
          </a:ln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node:A"/>
          <p:cNvSpPr/>
          <p:nvPr/>
        </p:nvSpPr>
        <p:spPr>
          <a:xfrm>
            <a:off x="754113" y="3356854"/>
            <a:ext cx="1443329" cy="533404"/>
          </a:xfrm>
          <a:prstGeom prst="roundRect">
            <a:avLst>
              <a:gd name="adj" fmla="val 50000"/>
            </a:avLst>
          </a:prstGeom>
          <a:solidFill>
            <a:srgbClr val="DDF9EE"/>
          </a:solidFill>
          <a:ln w="16510">
            <a:solidFill>
              <a:srgbClr val="138264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12" dirty="0">
                <a:solidFill>
                  <a:srgbClr val="172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idea</a:t>
            </a:r>
            <a:endParaRPr lang="en-US" sz="1112" dirty="0"/>
          </a:p>
        </p:txBody>
      </p:sp>
      <p:sp>
        <p:nvSpPr>
          <p:cNvPr id="11" name="node:B"/>
          <p:cNvSpPr/>
          <p:nvPr/>
        </p:nvSpPr>
        <p:spPr>
          <a:xfrm>
            <a:off x="2809288" y="3356854"/>
            <a:ext cx="1443329" cy="533404"/>
          </a:xfrm>
          <a:prstGeom prst="rect">
            <a:avLst/>
          </a:prstGeom>
          <a:solidFill>
            <a:srgbClr val="DDF9EE"/>
          </a:solidFill>
          <a:ln w="16510">
            <a:solidFill>
              <a:srgbClr val="138264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12" dirty="0">
                <a:solidFill>
                  <a:srgbClr val="172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prototype</a:t>
            </a:r>
            <a:endParaRPr lang="en-US" sz="1112" dirty="0"/>
          </a:p>
        </p:txBody>
      </p:sp>
      <p:sp>
        <p:nvSpPr>
          <p:cNvPr id="12" name="node:C"/>
          <p:cNvSpPr/>
          <p:nvPr/>
        </p:nvSpPr>
        <p:spPr>
          <a:xfrm>
            <a:off x="4864463" y="3482360"/>
            <a:ext cx="1804162" cy="1019744"/>
          </a:xfrm>
          <a:prstGeom prst="diamond">
            <a:avLst/>
          </a:prstGeom>
          <a:solidFill>
            <a:srgbClr val="DDF9EE"/>
          </a:solidFill>
          <a:ln w="16510">
            <a:solidFill>
              <a:srgbClr val="138264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12" dirty="0">
                <a:solidFill>
                  <a:srgbClr val="172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Ready to ship?</a:t>
            </a:r>
            <a:endParaRPr lang="en-US" sz="1112" dirty="0"/>
          </a:p>
        </p:txBody>
      </p:sp>
      <p:sp>
        <p:nvSpPr>
          <p:cNvPr id="13" name="node:D"/>
          <p:cNvSpPr/>
          <p:nvPr/>
        </p:nvSpPr>
        <p:spPr>
          <a:xfrm>
            <a:off x="7939382" y="3929479"/>
            <a:ext cx="1443329" cy="533404"/>
          </a:xfrm>
          <a:prstGeom prst="rect">
            <a:avLst/>
          </a:prstGeom>
          <a:solidFill>
            <a:srgbClr val="DDF9EE"/>
          </a:solidFill>
          <a:ln w="16510">
            <a:solidFill>
              <a:srgbClr val="138264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12" dirty="0">
                <a:solidFill>
                  <a:srgbClr val="172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Release</a:t>
            </a:r>
            <a:endParaRPr lang="en-US" sz="1112" dirty="0"/>
          </a:p>
        </p:txBody>
      </p:sp>
      <p:sp>
        <p:nvSpPr>
          <p:cNvPr id="14" name="node:E"/>
          <p:cNvSpPr/>
          <p:nvPr/>
        </p:nvSpPr>
        <p:spPr>
          <a:xfrm>
            <a:off x="7939382" y="2941112"/>
            <a:ext cx="1443329" cy="533404"/>
          </a:xfrm>
          <a:prstGeom prst="rect">
            <a:avLst/>
          </a:prstGeom>
          <a:solidFill>
            <a:srgbClr val="DDF9EE"/>
          </a:solidFill>
          <a:ln w="16510">
            <a:solidFill>
              <a:srgbClr val="138264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12" dirty="0">
                <a:solidFill>
                  <a:srgbClr val="172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Collect feedback</a:t>
            </a:r>
            <a:endParaRPr lang="en-US" sz="1112" dirty="0"/>
          </a:p>
        </p:txBody>
      </p:sp>
      <p:sp>
        <p:nvSpPr>
          <p:cNvPr id="15" name="node:F"/>
          <p:cNvSpPr/>
          <p:nvPr/>
        </p:nvSpPr>
        <p:spPr>
          <a:xfrm>
            <a:off x="9994558" y="3929479"/>
            <a:ext cx="1443329" cy="533404"/>
          </a:xfrm>
          <a:prstGeom prst="roundRect">
            <a:avLst>
              <a:gd name="adj" fmla="val 50000"/>
            </a:avLst>
          </a:prstGeom>
          <a:solidFill>
            <a:srgbClr val="DDF9EE"/>
          </a:solidFill>
          <a:ln w="16510">
            <a:solidFill>
              <a:srgbClr val="138264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12" dirty="0">
                <a:solidFill>
                  <a:srgbClr val="172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Measure impact</a:t>
            </a:r>
            <a:endParaRPr lang="en-US" sz="1112" dirty="0"/>
          </a:p>
        </p:txBody>
      </p:sp>
      <p:sp>
        <p:nvSpPr>
          <p:cNvPr id="16" name="label:e2"/>
          <p:cNvSpPr/>
          <p:nvPr/>
        </p:nvSpPr>
        <p:spPr>
          <a:xfrm>
            <a:off x="6990236" y="4078518"/>
            <a:ext cx="627534" cy="235325"/>
          </a:xfrm>
          <a:prstGeom prst="rect">
            <a:avLst/>
          </a:prstGeom>
          <a:solidFill>
            <a:srgbClr val="F8FAFC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6" dirty="0">
                <a:solidFill>
                  <a:srgbClr val="172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Yes</a:t>
            </a:r>
            <a:endParaRPr lang="en-US" sz="926" dirty="0"/>
          </a:p>
        </p:txBody>
      </p:sp>
      <p:sp>
        <p:nvSpPr>
          <p:cNvPr id="17" name="label:e3"/>
          <p:cNvSpPr/>
          <p:nvPr/>
        </p:nvSpPr>
        <p:spPr>
          <a:xfrm>
            <a:off x="6974548" y="3458828"/>
            <a:ext cx="658911" cy="235325"/>
          </a:xfrm>
          <a:prstGeom prst="rect">
            <a:avLst/>
          </a:prstGeom>
          <a:solidFill>
            <a:srgbClr val="F8FAFC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6" dirty="0">
                <a:solidFill>
                  <a:srgbClr val="172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yet</a:t>
            </a:r>
            <a:endParaRPr lang="en-US" sz="926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From idea to release</dc:title>
  <dc:subject>Editable Mermaid flowchart</dc:subject>
  <dc:creator>Mermaid to Slides</dc:creator>
  <cp:lastModifiedBy>Mermaid to Slides</cp:lastModifiedBy>
  <cp:revision>1</cp:revision>
  <dcterms:created xsi:type="dcterms:W3CDTF">2026-09-10T05:53:33Z</dcterms:created>
  <dcterms:modified xsi:type="dcterms:W3CDTF">2026-09-10T05:53:33Z</dcterms:modified>
</cp:coreProperties>
</file>