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Created with Mermaid to Slides. Nodes and freeform lines are editable. Lines do not automatically reroute when nodes move.
Slide direction: LR; selected mode: auto; spacing: compact; source direction: TB.
Mermaid source:
flowchart TB
  subgraph client [Client applications]
    Web[Web app]
    Mobile[Mobile app]
  end
  subgraph server [应用服务]
    API[API gateway]
    subgraph storage [Data services]
      DB[(Database)]
      Cache[(Cache)]
    end
    API --&gt; DB
    API -.-&gt; Cache
  end
  Web --&gt; API
  Mobile --&gt; API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agram title"/>
          <p:cNvSpPr/>
          <p:nvPr/>
        </p:nvSpPr>
        <p:spPr>
          <a:xfrm>
            <a:off x="548640" y="347472"/>
            <a:ext cx="110642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72333"/>
                </a:solidFill>
              </a:rPr>
              <a:t>Application boundaries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932688"/>
            <a:ext cx="11091672" cy="0"/>
          </a:xfrm>
          <a:prstGeom prst="line">
            <a:avLst/>
          </a:prstGeom>
          <a:noFill/>
          <a:ln w="12700">
            <a:solidFill>
              <a:srgbClr val="138264"/>
            </a:solidFill>
            <a:prstDash val="solid"/>
          </a:ln>
        </p:spPr>
      </p:sp>
      <p:sp>
        <p:nvSpPr>
          <p:cNvPr id="4" name="edge:e0"/>
          <p:cNvSpPr/>
          <p:nvPr/>
        </p:nvSpPr>
        <p:spPr>
          <a:xfrm>
            <a:off x="6884545" y="4782717"/>
            <a:ext cx="961155" cy="237056"/>
          </a:xfrm>
          <a:custGeom>
            <a:avLst/>
            <a:gdLst/>
            <a:ahLst/>
            <a:cxnLst/>
            <a:rect l="0" t="0" r="r" b="b"/>
            <a:pathLst>
              <a:path w="961155" h="237056" fill="none">
                <a:moveTo>
                  <a:pt x="0" y="0"/>
                </a:moveTo>
                <a:lnTo>
                  <a:pt x="487043" y="237056"/>
                </a:lnTo>
                <a:lnTo>
                  <a:pt x="724099" y="237056"/>
                </a:lnTo>
                <a:lnTo>
                  <a:pt x="961155" y="237056"/>
                </a:lnTo>
              </a:path>
            </a:pathLst>
          </a:custGeom>
          <a:noFill/>
          <a:ln w="15240">
            <a:solidFill>
              <a:srgbClr val="64748B"/>
            </a:solidFill>
            <a:tailEnd type="triangle" w="sm" len="sm"/>
          </a:ln>
        </p:spPr>
        <p:style>
          <a:lnRef idx="0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5" name="edge:e1"/>
          <p:cNvSpPr/>
          <p:nvPr/>
        </p:nvSpPr>
        <p:spPr>
          <a:xfrm>
            <a:off x="6884545" y="3778050"/>
            <a:ext cx="961155" cy="237056"/>
          </a:xfrm>
          <a:custGeom>
            <a:avLst/>
            <a:gdLst/>
            <a:ahLst/>
            <a:cxnLst/>
            <a:rect l="0" t="0" r="r" b="b"/>
            <a:pathLst>
              <a:path w="961155" h="237056" fill="none">
                <a:moveTo>
                  <a:pt x="0" y="237056"/>
                </a:moveTo>
                <a:lnTo>
                  <a:pt x="487043" y="0"/>
                </a:lnTo>
                <a:lnTo>
                  <a:pt x="724099" y="0"/>
                </a:lnTo>
                <a:lnTo>
                  <a:pt x="961155" y="0"/>
                </a:lnTo>
              </a:path>
            </a:pathLst>
          </a:custGeom>
          <a:noFill/>
          <a:ln w="15240">
            <a:solidFill>
              <a:srgbClr val="64748B"/>
            </a:solidFill>
            <a:prstDash val="dash"/>
            <a:tailEnd type="triangle" w="sm" len="sm"/>
          </a:ln>
        </p:spPr>
        <p:style>
          <a:lnRef idx="0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edge:e2"/>
          <p:cNvSpPr/>
          <p:nvPr/>
        </p:nvSpPr>
        <p:spPr>
          <a:xfrm>
            <a:off x="4109243" y="3879645"/>
            <a:ext cx="1043931" cy="135461"/>
          </a:xfrm>
          <a:custGeom>
            <a:avLst/>
            <a:gdLst/>
            <a:ahLst/>
            <a:cxnLst/>
            <a:rect l="0" t="0" r="r" b="b"/>
            <a:pathLst>
              <a:path w="1043931" h="135461" fill="none">
                <a:moveTo>
                  <a:pt x="0" y="0"/>
                </a:moveTo>
                <a:lnTo>
                  <a:pt x="237056" y="0"/>
                </a:lnTo>
                <a:lnTo>
                  <a:pt x="474112" y="0"/>
                </a:lnTo>
                <a:lnTo>
                  <a:pt x="711169" y="0"/>
                </a:lnTo>
                <a:lnTo>
                  <a:pt x="1043931" y="135461"/>
                </a:lnTo>
              </a:path>
            </a:pathLst>
          </a:custGeom>
          <a:noFill/>
          <a:ln w="15240">
            <a:solidFill>
              <a:srgbClr val="64748B"/>
            </a:solidFill>
            <a:tailEnd type="triangle" w="sm" len="sm"/>
          </a:ln>
        </p:spPr>
        <p:style>
          <a:lnRef idx="0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edge:e3"/>
          <p:cNvSpPr/>
          <p:nvPr/>
        </p:nvSpPr>
        <p:spPr>
          <a:xfrm>
            <a:off x="4109243" y="4782717"/>
            <a:ext cx="1043931" cy="135461"/>
          </a:xfrm>
          <a:custGeom>
            <a:avLst/>
            <a:gdLst/>
            <a:ahLst/>
            <a:cxnLst/>
            <a:rect l="0" t="0" r="r" b="b"/>
            <a:pathLst>
              <a:path w="1043931" h="135461" fill="none">
                <a:moveTo>
                  <a:pt x="0" y="135461"/>
                </a:moveTo>
                <a:lnTo>
                  <a:pt x="237056" y="135461"/>
                </a:lnTo>
                <a:lnTo>
                  <a:pt x="474112" y="135461"/>
                </a:lnTo>
                <a:lnTo>
                  <a:pt x="711169" y="135461"/>
                </a:lnTo>
                <a:lnTo>
                  <a:pt x="1043931" y="0"/>
                </a:lnTo>
              </a:path>
            </a:pathLst>
          </a:custGeom>
          <a:noFill/>
          <a:ln w="15240">
            <a:solidFill>
              <a:srgbClr val="64748B"/>
            </a:solidFill>
            <a:tailEnd type="triangle" w="sm" len="sm"/>
          </a:ln>
        </p:spPr>
        <p:style>
          <a:lnRef idx="0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group:client"/>
          <p:cNvSpPr/>
          <p:nvPr/>
        </p:nvSpPr>
        <p:spPr>
          <a:xfrm>
            <a:off x="1795123" y="2795960"/>
            <a:ext cx="2551176" cy="2754367"/>
          </a:xfrm>
          <a:prstGeom prst="rect">
            <a:avLst/>
          </a:prstGeom>
          <a:solidFill>
            <a:srgbClr val="F8FAFC">
              <a:alpha val="0"/>
            </a:srgbClr>
          </a:solidFill>
          <a:ln w="12700">
            <a:solidFill>
              <a:srgbClr val="138264"/>
            </a:solidFill>
            <a:prstDash val="dash"/>
          </a:ln>
        </p:spPr>
        <p:txBody>
          <a:bodyPr wrap="square" lIns="112884" tIns="158037" rIns="158037" bIns="112884" rtlCol="0" anchor="t"/>
          <a:lstStyle/>
          <a:p>
            <a:pPr algn="l" indent="0" marL="0">
              <a:buNone/>
            </a:pPr>
            <a:r>
              <a:rPr lang="en-US" sz="1422" b="1" dirty="0">
                <a:solidFill>
                  <a:srgbClr val="172333"/>
                </a:solidFill>
                <a:highlight>
                  <a:srgbClr val="F8FAFC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Client applications</a:t>
            </a:r>
            <a:endParaRPr lang="en-US" sz="1422" dirty="0"/>
          </a:p>
        </p:txBody>
      </p:sp>
      <p:sp>
        <p:nvSpPr>
          <p:cNvPr id="9" name="group:server"/>
          <p:cNvSpPr/>
          <p:nvPr/>
        </p:nvSpPr>
        <p:spPr>
          <a:xfrm>
            <a:off x="4820412" y="1463930"/>
            <a:ext cx="5576464" cy="4515356"/>
          </a:xfrm>
          <a:prstGeom prst="rect">
            <a:avLst/>
          </a:prstGeom>
          <a:solidFill>
            <a:srgbClr val="F8FAFC">
              <a:alpha val="0"/>
            </a:srgbClr>
          </a:solidFill>
          <a:ln w="12700">
            <a:solidFill>
              <a:srgbClr val="138264"/>
            </a:solidFill>
            <a:prstDash val="dash"/>
          </a:ln>
        </p:spPr>
        <p:txBody>
          <a:bodyPr wrap="square" lIns="112884" tIns="158037" rIns="158037" bIns="112884" rtlCol="0" anchor="t"/>
          <a:lstStyle/>
          <a:p>
            <a:pPr algn="l" indent="0" marL="0">
              <a:buNone/>
            </a:pPr>
            <a:r>
              <a:rPr lang="en-US" sz="1422" b="1" dirty="0">
                <a:solidFill>
                  <a:srgbClr val="172333"/>
                </a:solidFill>
                <a:highlight>
                  <a:srgbClr val="F8FAFC"/>
                </a:highlight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应用服务</a:t>
            </a:r>
            <a:endParaRPr lang="en-US" sz="1422" dirty="0"/>
          </a:p>
        </p:txBody>
      </p:sp>
      <p:sp>
        <p:nvSpPr>
          <p:cNvPr id="10" name="group:storage"/>
          <p:cNvSpPr/>
          <p:nvPr/>
        </p:nvSpPr>
        <p:spPr>
          <a:xfrm>
            <a:off x="7608644" y="2141233"/>
            <a:ext cx="2551176" cy="3612285"/>
          </a:xfrm>
          <a:prstGeom prst="rect">
            <a:avLst/>
          </a:prstGeom>
          <a:solidFill>
            <a:srgbClr val="F8FAFC">
              <a:alpha val="0"/>
            </a:srgbClr>
          </a:solidFill>
          <a:ln w="12700">
            <a:solidFill>
              <a:srgbClr val="138264"/>
            </a:solidFill>
            <a:prstDash val="dash"/>
          </a:ln>
        </p:spPr>
        <p:txBody>
          <a:bodyPr wrap="square" lIns="112884" tIns="158037" rIns="158037" bIns="112884" rtlCol="0" anchor="t"/>
          <a:lstStyle/>
          <a:p>
            <a:pPr algn="l" indent="0" marL="0">
              <a:buNone/>
            </a:pPr>
            <a:r>
              <a:rPr lang="en-US" sz="1422" b="1" dirty="0">
                <a:solidFill>
                  <a:srgbClr val="172333"/>
                </a:solidFill>
                <a:highlight>
                  <a:srgbClr val="F8FAFC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Data services</a:t>
            </a:r>
            <a:endParaRPr lang="en-US" sz="1422" dirty="0"/>
          </a:p>
        </p:txBody>
      </p:sp>
      <p:sp>
        <p:nvSpPr>
          <p:cNvPr id="11" name="node:Web"/>
          <p:cNvSpPr/>
          <p:nvPr/>
        </p:nvSpPr>
        <p:spPr>
          <a:xfrm>
            <a:off x="2032180" y="3495840"/>
            <a:ext cx="2077064" cy="767610"/>
          </a:xfrm>
          <a:prstGeom prst="rect">
            <a:avLst/>
          </a:prstGeom>
          <a:solidFill>
            <a:srgbClr val="DDF9EE"/>
          </a:solidFill>
          <a:ln w="16510">
            <a:solidFill>
              <a:srgbClr val="138264"/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dirty="0">
                <a:solidFill>
                  <a:srgbClr val="172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Web app</a:t>
            </a:r>
            <a:endParaRPr lang="en-US" sz="1600" dirty="0"/>
          </a:p>
        </p:txBody>
      </p:sp>
      <p:sp>
        <p:nvSpPr>
          <p:cNvPr id="12" name="node:Mobile"/>
          <p:cNvSpPr/>
          <p:nvPr/>
        </p:nvSpPr>
        <p:spPr>
          <a:xfrm>
            <a:off x="2032180" y="4534372"/>
            <a:ext cx="2077064" cy="767610"/>
          </a:xfrm>
          <a:prstGeom prst="rect">
            <a:avLst/>
          </a:prstGeom>
          <a:solidFill>
            <a:srgbClr val="DDF9EE"/>
          </a:solidFill>
          <a:ln w="16510">
            <a:solidFill>
              <a:srgbClr val="138264"/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dirty="0">
                <a:solidFill>
                  <a:srgbClr val="172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Mobile app</a:t>
            </a:r>
            <a:endParaRPr lang="en-US" sz="1600" dirty="0"/>
          </a:p>
        </p:txBody>
      </p:sp>
      <p:sp>
        <p:nvSpPr>
          <p:cNvPr id="13" name="node:API"/>
          <p:cNvSpPr/>
          <p:nvPr/>
        </p:nvSpPr>
        <p:spPr>
          <a:xfrm>
            <a:off x="5057468" y="4015106"/>
            <a:ext cx="2077064" cy="767610"/>
          </a:xfrm>
          <a:prstGeom prst="rect">
            <a:avLst/>
          </a:prstGeom>
          <a:solidFill>
            <a:srgbClr val="DDF9EE"/>
          </a:solidFill>
          <a:ln w="16510">
            <a:solidFill>
              <a:srgbClr val="138264"/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dirty="0">
                <a:solidFill>
                  <a:srgbClr val="172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 gateway</a:t>
            </a:r>
            <a:endParaRPr lang="en-US" sz="1600" dirty="0"/>
          </a:p>
        </p:txBody>
      </p:sp>
      <p:sp>
        <p:nvSpPr>
          <p:cNvPr id="14" name="node:DB"/>
          <p:cNvSpPr/>
          <p:nvPr/>
        </p:nvSpPr>
        <p:spPr>
          <a:xfrm>
            <a:off x="7845700" y="4534372"/>
            <a:ext cx="2077064" cy="970801"/>
          </a:xfrm>
          <a:prstGeom prst="can">
            <a:avLst/>
          </a:prstGeom>
          <a:solidFill>
            <a:srgbClr val="DDF9EE"/>
          </a:solidFill>
          <a:ln w="16510">
            <a:solidFill>
              <a:srgbClr val="138264"/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dirty="0">
                <a:solidFill>
                  <a:srgbClr val="172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Database</a:t>
            </a:r>
            <a:endParaRPr lang="en-US" sz="1600" dirty="0"/>
          </a:p>
        </p:txBody>
      </p:sp>
      <p:sp>
        <p:nvSpPr>
          <p:cNvPr id="15" name="node:Cache"/>
          <p:cNvSpPr/>
          <p:nvPr/>
        </p:nvSpPr>
        <p:spPr>
          <a:xfrm>
            <a:off x="7845700" y="3292649"/>
            <a:ext cx="2077064" cy="970801"/>
          </a:xfrm>
          <a:prstGeom prst="can">
            <a:avLst/>
          </a:prstGeom>
          <a:solidFill>
            <a:srgbClr val="DDF9EE"/>
          </a:solidFill>
          <a:ln w="16510">
            <a:solidFill>
              <a:srgbClr val="138264"/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dirty="0">
                <a:solidFill>
                  <a:srgbClr val="172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Cache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Application boundaries</dc:title>
  <dc:subject>Editable Mermaid flowchart</dc:subject>
  <dc:creator>Mermaid to Slides</dc:creator>
  <cp:lastModifiedBy>Mermaid to Slides</cp:lastModifiedBy>
  <cp:revision>1</cp:revision>
  <dcterms:created xsi:type="dcterms:W3CDTF">2026-09-10T07:52:28Z</dcterms:created>
  <dcterms:modified xsi:type="dcterms:W3CDTF">2026-09-10T07:52:28Z</dcterms:modified>
</cp:coreProperties>
</file>