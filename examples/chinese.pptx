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Created with Mermaid to Slides. Nodes and freeform lines are editable. Lines do not automatically reroute when nodes move.
Mermaid source:
flowchart LR
  A([收集需求]) --&gt; B[设计与开发]
  B --&gt; C{测试通过？}
  C --&gt;|通过| D[发布新版本]
  C --&gt;|需要修改| E[记录问题并改进]
  E --&gt; B
  D --&gt; F([收集用户反馈])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ram title"/>
          <p:cNvSpPr/>
          <p:nvPr/>
        </p:nvSpPr>
        <p:spPr>
          <a:xfrm>
            <a:off x="548640" y="347472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333"/>
                </a:solidFill>
              </a:rPr>
              <a:t>从需求到交付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91672" cy="0"/>
          </a:xfrm>
          <a:prstGeom prst="line">
            <a:avLst/>
          </a:prstGeom>
          <a:noFill/>
          <a:ln w="12700">
            <a:solidFill>
              <a:srgbClr val="138264"/>
            </a:solidFill>
            <a:prstDash val="solid"/>
          </a:ln>
        </p:spPr>
      </p:sp>
      <p:sp>
        <p:nvSpPr>
          <p:cNvPr id="4" name="edge:e0"/>
          <p:cNvSpPr/>
          <p:nvPr/>
        </p:nvSpPr>
        <p:spPr>
          <a:xfrm>
            <a:off x="2202115" y="3623278"/>
            <a:ext cx="613582" cy="1"/>
          </a:xfrm>
          <a:custGeom>
            <a:avLst/>
            <a:gdLst/>
            <a:ahLst/>
            <a:cxnLst/>
            <a:rect l="0" t="0" r="r" b="b"/>
            <a:pathLst>
              <a:path w="613582" h="1" fill="none">
                <a:moveTo>
                  <a:pt x="0" y="0"/>
                </a:moveTo>
                <a:lnTo>
                  <a:pt x="306791" y="0"/>
                </a:lnTo>
                <a:lnTo>
                  <a:pt x="613582" y="0"/>
                </a:lnTo>
              </a:path>
            </a:pathLst>
          </a:custGeom>
          <a:noFill/>
          <a:ln w="15240">
            <a:solidFill>
              <a:srgbClr val="64748B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edge:e1"/>
          <p:cNvSpPr/>
          <p:nvPr/>
        </p:nvSpPr>
        <p:spPr>
          <a:xfrm>
            <a:off x="4263121" y="3882930"/>
            <a:ext cx="613582" cy="110070"/>
          </a:xfrm>
          <a:custGeom>
            <a:avLst/>
            <a:gdLst/>
            <a:ahLst/>
            <a:cxnLst/>
            <a:rect l="0" t="0" r="r" b="b"/>
            <a:pathLst>
              <a:path w="613582" h="110070" fill="none">
                <a:moveTo>
                  <a:pt x="0" y="0"/>
                </a:moveTo>
                <a:lnTo>
                  <a:pt x="306791" y="110070"/>
                </a:lnTo>
                <a:lnTo>
                  <a:pt x="613582" y="110070"/>
                </a:lnTo>
              </a:path>
            </a:pathLst>
          </a:custGeom>
          <a:noFill/>
          <a:ln w="15240">
            <a:solidFill>
              <a:srgbClr val="64748B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edge:e2"/>
          <p:cNvSpPr/>
          <p:nvPr/>
        </p:nvSpPr>
        <p:spPr>
          <a:xfrm>
            <a:off x="6512593" y="4091003"/>
            <a:ext cx="1416286" cy="106525"/>
          </a:xfrm>
          <a:custGeom>
            <a:avLst/>
            <a:gdLst/>
            <a:ahLst/>
            <a:cxnLst/>
            <a:rect l="0" t="0" r="r" b="b"/>
            <a:pathLst>
              <a:path w="1416286" h="106525" fill="none">
                <a:moveTo>
                  <a:pt x="0" y="0"/>
                </a:moveTo>
                <a:lnTo>
                  <a:pt x="794838" y="106525"/>
                </a:lnTo>
                <a:lnTo>
                  <a:pt x="1416286" y="106525"/>
                </a:lnTo>
              </a:path>
            </a:pathLst>
          </a:custGeom>
          <a:noFill/>
          <a:ln w="15240">
            <a:solidFill>
              <a:srgbClr val="64748B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edge:e3"/>
          <p:cNvSpPr/>
          <p:nvPr/>
        </p:nvSpPr>
        <p:spPr>
          <a:xfrm>
            <a:off x="6391207" y="3405272"/>
            <a:ext cx="1537672" cy="421116"/>
          </a:xfrm>
          <a:custGeom>
            <a:avLst/>
            <a:gdLst/>
            <a:ahLst/>
            <a:cxnLst/>
            <a:rect l="0" t="0" r="r" b="b"/>
            <a:pathLst>
              <a:path w="1537672" h="421116" fill="none">
                <a:moveTo>
                  <a:pt x="0" y="421116"/>
                </a:moveTo>
                <a:lnTo>
                  <a:pt x="916224" y="170807"/>
                </a:lnTo>
                <a:lnTo>
                  <a:pt x="1537672" y="0"/>
                </a:lnTo>
              </a:path>
            </a:pathLst>
          </a:custGeom>
          <a:noFill/>
          <a:ln w="15240">
            <a:solidFill>
              <a:srgbClr val="64748B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edge:e4"/>
          <p:cNvSpPr/>
          <p:nvPr/>
        </p:nvSpPr>
        <p:spPr>
          <a:xfrm>
            <a:off x="4032889" y="3064761"/>
            <a:ext cx="3895990" cy="291058"/>
          </a:xfrm>
          <a:custGeom>
            <a:avLst/>
            <a:gdLst/>
            <a:ahLst/>
            <a:cxnLst/>
            <a:rect l="0" t="0" r="r" b="b"/>
            <a:pathLst>
              <a:path w="3895990" h="291058" fill="none">
                <a:moveTo>
                  <a:pt x="3895990" y="65416"/>
                </a:moveTo>
                <a:lnTo>
                  <a:pt x="3274542" y="0"/>
                </a:lnTo>
                <a:lnTo>
                  <a:pt x="1748453" y="0"/>
                </a:lnTo>
                <a:lnTo>
                  <a:pt x="537023" y="0"/>
                </a:lnTo>
                <a:lnTo>
                  <a:pt x="0" y="291058"/>
                </a:lnTo>
              </a:path>
            </a:pathLst>
          </a:custGeom>
          <a:noFill/>
          <a:ln w="15240">
            <a:solidFill>
              <a:srgbClr val="64748B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edge:e5"/>
          <p:cNvSpPr/>
          <p:nvPr/>
        </p:nvSpPr>
        <p:spPr>
          <a:xfrm>
            <a:off x="9376303" y="4197527"/>
            <a:ext cx="613582" cy="1"/>
          </a:xfrm>
          <a:custGeom>
            <a:avLst/>
            <a:gdLst/>
            <a:ahLst/>
            <a:cxnLst/>
            <a:rect l="0" t="0" r="r" b="b"/>
            <a:pathLst>
              <a:path w="613582" h="1" fill="none">
                <a:moveTo>
                  <a:pt x="0" y="0"/>
                </a:moveTo>
                <a:lnTo>
                  <a:pt x="306791" y="0"/>
                </a:lnTo>
                <a:lnTo>
                  <a:pt x="613582" y="0"/>
                </a:lnTo>
              </a:path>
            </a:pathLst>
          </a:custGeom>
          <a:noFill/>
          <a:ln w="15240">
            <a:solidFill>
              <a:srgbClr val="64748B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node:A"/>
          <p:cNvSpPr/>
          <p:nvPr/>
        </p:nvSpPr>
        <p:spPr>
          <a:xfrm>
            <a:off x="754691" y="3355819"/>
            <a:ext cx="1447424" cy="534918"/>
          </a:xfrm>
          <a:prstGeom prst="roundRect">
            <a:avLst>
              <a:gd name="adj" fmla="val 50000"/>
            </a:avLst>
          </a:prstGeom>
          <a:solidFill>
            <a:srgbClr val="DDF9EE"/>
          </a:solidFill>
          <a:ln w="16510">
            <a:solidFill>
              <a:srgbClr val="13826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5" dirty="0">
                <a:solidFill>
                  <a:srgbClr val="17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收集需求</a:t>
            </a:r>
            <a:endParaRPr lang="en-US" sz="1115" dirty="0"/>
          </a:p>
        </p:txBody>
      </p:sp>
      <p:sp>
        <p:nvSpPr>
          <p:cNvPr id="11" name="node:B"/>
          <p:cNvSpPr/>
          <p:nvPr/>
        </p:nvSpPr>
        <p:spPr>
          <a:xfrm>
            <a:off x="2815697" y="3355819"/>
            <a:ext cx="1447424" cy="534918"/>
          </a:xfrm>
          <a:prstGeom prst="rect">
            <a:avLst/>
          </a:prstGeom>
          <a:solidFill>
            <a:srgbClr val="DDF9EE"/>
          </a:solidFill>
          <a:ln w="16510">
            <a:solidFill>
              <a:srgbClr val="13826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5" dirty="0">
                <a:solidFill>
                  <a:srgbClr val="17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设计与开发</a:t>
            </a:r>
            <a:endParaRPr lang="en-US" sz="1115" dirty="0"/>
          </a:p>
        </p:txBody>
      </p:sp>
      <p:sp>
        <p:nvSpPr>
          <p:cNvPr id="12" name="node:C"/>
          <p:cNvSpPr/>
          <p:nvPr/>
        </p:nvSpPr>
        <p:spPr>
          <a:xfrm>
            <a:off x="4876703" y="3481682"/>
            <a:ext cx="1809280" cy="1022636"/>
          </a:xfrm>
          <a:prstGeom prst="diamond">
            <a:avLst/>
          </a:prstGeom>
          <a:solidFill>
            <a:srgbClr val="DDF9EE"/>
          </a:solidFill>
          <a:ln w="16510">
            <a:solidFill>
              <a:srgbClr val="13826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5" dirty="0">
                <a:solidFill>
                  <a:srgbClr val="17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测试通过？</a:t>
            </a:r>
            <a:endParaRPr lang="en-US" sz="1115" dirty="0"/>
          </a:p>
        </p:txBody>
      </p:sp>
      <p:sp>
        <p:nvSpPr>
          <p:cNvPr id="13" name="node:D"/>
          <p:cNvSpPr/>
          <p:nvPr/>
        </p:nvSpPr>
        <p:spPr>
          <a:xfrm>
            <a:off x="7928879" y="3930069"/>
            <a:ext cx="1447424" cy="534918"/>
          </a:xfrm>
          <a:prstGeom prst="rect">
            <a:avLst/>
          </a:prstGeom>
          <a:solidFill>
            <a:srgbClr val="DDF9EE"/>
          </a:solidFill>
          <a:ln w="16510">
            <a:solidFill>
              <a:srgbClr val="13826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5" dirty="0">
                <a:solidFill>
                  <a:srgbClr val="17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发布新版本</a:t>
            </a:r>
            <a:endParaRPr lang="en-US" sz="1115" dirty="0"/>
          </a:p>
        </p:txBody>
      </p:sp>
      <p:sp>
        <p:nvSpPr>
          <p:cNvPr id="14" name="node:E"/>
          <p:cNvSpPr/>
          <p:nvPr/>
        </p:nvSpPr>
        <p:spPr>
          <a:xfrm>
            <a:off x="7928879" y="2938898"/>
            <a:ext cx="1447424" cy="534918"/>
          </a:xfrm>
          <a:prstGeom prst="rect">
            <a:avLst/>
          </a:prstGeom>
          <a:solidFill>
            <a:srgbClr val="DDF9EE"/>
          </a:solidFill>
          <a:ln w="16510">
            <a:solidFill>
              <a:srgbClr val="13826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5" dirty="0">
                <a:solidFill>
                  <a:srgbClr val="17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记录问题并改进</a:t>
            </a:r>
            <a:endParaRPr lang="en-US" sz="1115" dirty="0"/>
          </a:p>
        </p:txBody>
      </p:sp>
      <p:sp>
        <p:nvSpPr>
          <p:cNvPr id="15" name="node:F"/>
          <p:cNvSpPr/>
          <p:nvPr/>
        </p:nvSpPr>
        <p:spPr>
          <a:xfrm>
            <a:off x="9989885" y="3930069"/>
            <a:ext cx="1447424" cy="534918"/>
          </a:xfrm>
          <a:prstGeom prst="roundRect">
            <a:avLst>
              <a:gd name="adj" fmla="val 50000"/>
            </a:avLst>
          </a:prstGeom>
          <a:solidFill>
            <a:srgbClr val="DDF9EE"/>
          </a:solidFill>
          <a:ln w="16510">
            <a:solidFill>
              <a:srgbClr val="13826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5" dirty="0">
                <a:solidFill>
                  <a:srgbClr val="17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收集用户反馈</a:t>
            </a:r>
            <a:endParaRPr lang="en-US" sz="1115" dirty="0"/>
          </a:p>
        </p:txBody>
      </p:sp>
      <p:sp>
        <p:nvSpPr>
          <p:cNvPr id="16" name="label:e2"/>
          <p:cNvSpPr/>
          <p:nvPr/>
        </p:nvSpPr>
        <p:spPr>
          <a:xfrm>
            <a:off x="6992773" y="4079531"/>
            <a:ext cx="629315" cy="235993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9" dirty="0">
                <a:solidFill>
                  <a:srgbClr val="17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929" dirty="0"/>
          </a:p>
        </p:txBody>
      </p:sp>
      <p:sp>
        <p:nvSpPr>
          <p:cNvPr id="17" name="label:e3"/>
          <p:cNvSpPr/>
          <p:nvPr/>
        </p:nvSpPr>
        <p:spPr>
          <a:xfrm>
            <a:off x="6992773" y="3458082"/>
            <a:ext cx="629315" cy="235993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9" dirty="0">
                <a:solidFill>
                  <a:srgbClr val="17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需要修改</a:t>
            </a:r>
            <a:endParaRPr lang="en-US" sz="92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从需求到交付</dc:title>
  <dc:subject>Editable Mermaid flowchart</dc:subject>
  <dc:creator>Mermaid to Slides</dc:creator>
  <cp:lastModifiedBy>Mermaid to Slides</cp:lastModifiedBy>
  <cp:revision>1</cp:revision>
  <dcterms:created xsi:type="dcterms:W3CDTF">2026-09-10T07:24:35Z</dcterms:created>
  <dcterms:modified xsi:type="dcterms:W3CDTF">2026-09-10T07:24:35Z</dcterms:modified>
</cp:coreProperties>
</file>