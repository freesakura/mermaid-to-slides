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 with Mermaid to Slides. Nodes and freeform lines are editable. Lines do not automatically reroute when nodes move.
Slide direction: TB; selected mode: source; spacing: comfortable; source direction: TB.
Mermaid source:
flowchart TB
  subgraph client [Client applications]
    Web[Web app]
    Mobile[Mobile app]
  end
  subgraph server [应用服务]
    API[API gateway]
    subgraph storage [Data services]
      DB[(Database)]
      Cache[(Cache)]
    end
    API --&gt; DB
    API -.-&gt; Cache
  end
  Web --&gt; API
  Mobile --&gt; API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ram title"/>
          <p:cNvSpPr/>
          <p:nvPr/>
        </p:nvSpPr>
        <p:spPr>
          <a:xfrm>
            <a:off x="548640" y="347472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333"/>
                </a:solidFill>
              </a:rPr>
              <a:t>Application boundaries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91672" cy="0"/>
          </a:xfrm>
          <a:prstGeom prst="line">
            <a:avLst/>
          </a:prstGeom>
          <a:noFill/>
          <a:ln w="12700">
            <a:solidFill>
              <a:srgbClr val="138264"/>
            </a:solidFill>
            <a:prstDash val="solid"/>
          </a:ln>
        </p:spPr>
      </p:sp>
      <p:sp>
        <p:nvSpPr>
          <p:cNvPr id="4" name="edge:e0"/>
          <p:cNvSpPr/>
          <p:nvPr/>
        </p:nvSpPr>
        <p:spPr>
          <a:xfrm>
            <a:off x="6432460" y="4014473"/>
            <a:ext cx="385939" cy="1021772"/>
          </a:xfrm>
          <a:custGeom>
            <a:avLst/>
            <a:gdLst/>
            <a:ahLst/>
            <a:cxnLst/>
            <a:rect l="0" t="0" r="r" b="b"/>
            <a:pathLst>
              <a:path w="385939" h="1021772" fill="none">
                <a:moveTo>
                  <a:pt x="0" y="0"/>
                </a:moveTo>
                <a:lnTo>
                  <a:pt x="385939" y="253816"/>
                </a:lnTo>
                <a:lnTo>
                  <a:pt x="385939" y="767956"/>
                </a:lnTo>
                <a:lnTo>
                  <a:pt x="385939" y="1021772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edge:e1"/>
          <p:cNvSpPr/>
          <p:nvPr/>
        </p:nvSpPr>
        <p:spPr>
          <a:xfrm>
            <a:off x="5373601" y="4014473"/>
            <a:ext cx="385939" cy="1021772"/>
          </a:xfrm>
          <a:custGeom>
            <a:avLst/>
            <a:gdLst/>
            <a:ahLst/>
            <a:cxnLst/>
            <a:rect l="0" t="0" r="r" b="b"/>
            <a:pathLst>
              <a:path w="385939" h="1021772" fill="none">
                <a:moveTo>
                  <a:pt x="385939" y="0"/>
                </a:moveTo>
                <a:lnTo>
                  <a:pt x="0" y="253816"/>
                </a:lnTo>
                <a:lnTo>
                  <a:pt x="0" y="767956"/>
                </a:lnTo>
                <a:lnTo>
                  <a:pt x="0" y="1021772"/>
                </a:lnTo>
              </a:path>
            </a:pathLst>
          </a:custGeom>
          <a:noFill/>
          <a:ln w="15240">
            <a:solidFill>
              <a:srgbClr val="64748B"/>
            </a:solidFill>
            <a:prstDash val="dash"/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edge:e2"/>
          <p:cNvSpPr/>
          <p:nvPr/>
        </p:nvSpPr>
        <p:spPr>
          <a:xfrm>
            <a:off x="5373601" y="2296334"/>
            <a:ext cx="385939" cy="1275588"/>
          </a:xfrm>
          <a:custGeom>
            <a:avLst/>
            <a:gdLst/>
            <a:ahLst/>
            <a:cxnLst/>
            <a:rect l="0" t="0" r="r" b="b"/>
            <a:pathLst>
              <a:path w="385939" h="1275588" fill="none">
                <a:moveTo>
                  <a:pt x="0" y="0"/>
                </a:moveTo>
                <a:lnTo>
                  <a:pt x="0" y="253816"/>
                </a:lnTo>
                <a:lnTo>
                  <a:pt x="0" y="507632"/>
                </a:lnTo>
                <a:lnTo>
                  <a:pt x="0" y="1021772"/>
                </a:lnTo>
                <a:lnTo>
                  <a:pt x="385939" y="1275588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edge:e3"/>
          <p:cNvSpPr/>
          <p:nvPr/>
        </p:nvSpPr>
        <p:spPr>
          <a:xfrm>
            <a:off x="6432460" y="2296334"/>
            <a:ext cx="385939" cy="1275588"/>
          </a:xfrm>
          <a:custGeom>
            <a:avLst/>
            <a:gdLst/>
            <a:ahLst/>
            <a:cxnLst/>
            <a:rect l="0" t="0" r="r" b="b"/>
            <a:pathLst>
              <a:path w="385939" h="1275588" fill="none">
                <a:moveTo>
                  <a:pt x="385939" y="0"/>
                </a:moveTo>
                <a:lnTo>
                  <a:pt x="385939" y="253816"/>
                </a:lnTo>
                <a:lnTo>
                  <a:pt x="385939" y="507632"/>
                </a:lnTo>
                <a:lnTo>
                  <a:pt x="385939" y="1021772"/>
                </a:lnTo>
                <a:lnTo>
                  <a:pt x="0" y="1275588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group:client"/>
          <p:cNvSpPr/>
          <p:nvPr/>
        </p:nvSpPr>
        <p:spPr>
          <a:xfrm>
            <a:off x="4586120" y="1339643"/>
            <a:ext cx="3019759" cy="1210507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138264"/>
            </a:solidFill>
            <a:prstDash val="dash"/>
          </a:ln>
        </p:spPr>
        <p:txBody>
          <a:bodyPr wrap="square" lIns="65081" tIns="91113" rIns="91113" bIns="65081" rtlCol="0" anchor="t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2333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Client applications</a:t>
            </a:r>
            <a:endParaRPr lang="en-US" sz="820" dirty="0"/>
          </a:p>
        </p:txBody>
      </p:sp>
      <p:sp>
        <p:nvSpPr>
          <p:cNvPr id="9" name="group:server"/>
          <p:cNvSpPr/>
          <p:nvPr/>
        </p:nvSpPr>
        <p:spPr>
          <a:xfrm>
            <a:off x="4455958" y="3057782"/>
            <a:ext cx="3280083" cy="3045792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138264"/>
            </a:solidFill>
            <a:prstDash val="dash"/>
          </a:ln>
        </p:spPr>
        <p:txBody>
          <a:bodyPr wrap="square" lIns="65081" tIns="91113" rIns="91113" bIns="65081" rtlCol="0" anchor="t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2333"/>
                </a:solidFill>
                <a:highlight>
                  <a:srgbClr val="F8FAFC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应用服务</a:t>
            </a:r>
            <a:endParaRPr lang="en-US" sz="820" dirty="0"/>
          </a:p>
        </p:txBody>
      </p:sp>
      <p:sp>
        <p:nvSpPr>
          <p:cNvPr id="10" name="group:storage"/>
          <p:cNvSpPr/>
          <p:nvPr/>
        </p:nvSpPr>
        <p:spPr>
          <a:xfrm>
            <a:off x="4586120" y="4522105"/>
            <a:ext cx="3019759" cy="1327653"/>
          </a:xfrm>
          <a:prstGeom prst="rect">
            <a:avLst/>
          </a:prstGeom>
          <a:solidFill>
            <a:srgbClr val="F8FAFC">
              <a:alpha val="0"/>
            </a:srgbClr>
          </a:solidFill>
          <a:ln w="12700">
            <a:solidFill>
              <a:srgbClr val="138264"/>
            </a:solidFill>
            <a:prstDash val="dash"/>
          </a:ln>
        </p:spPr>
        <p:txBody>
          <a:bodyPr wrap="square" lIns="65081" tIns="91113" rIns="91113" bIns="65081" rtlCol="0" anchor="t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2333"/>
                </a:solidFill>
                <a:highlight>
                  <a:srgbClr val="F8FAF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Data services</a:t>
            </a:r>
            <a:endParaRPr lang="en-US" sz="820" dirty="0"/>
          </a:p>
        </p:txBody>
      </p:sp>
      <p:sp>
        <p:nvSpPr>
          <p:cNvPr id="11" name="node:Web"/>
          <p:cNvSpPr/>
          <p:nvPr/>
        </p:nvSpPr>
        <p:spPr>
          <a:xfrm>
            <a:off x="4774855" y="1853783"/>
            <a:ext cx="1197491" cy="442551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2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922" dirty="0"/>
          </a:p>
        </p:txBody>
      </p:sp>
      <p:sp>
        <p:nvSpPr>
          <p:cNvPr id="12" name="node:Mobile"/>
          <p:cNvSpPr/>
          <p:nvPr/>
        </p:nvSpPr>
        <p:spPr>
          <a:xfrm>
            <a:off x="6219654" y="1853783"/>
            <a:ext cx="1197491" cy="442551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2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922" dirty="0"/>
          </a:p>
        </p:txBody>
      </p:sp>
      <p:sp>
        <p:nvSpPr>
          <p:cNvPr id="13" name="node:API"/>
          <p:cNvSpPr/>
          <p:nvPr/>
        </p:nvSpPr>
        <p:spPr>
          <a:xfrm>
            <a:off x="5497254" y="3571922"/>
            <a:ext cx="1197491" cy="442551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2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922" dirty="0"/>
          </a:p>
        </p:txBody>
      </p:sp>
      <p:sp>
        <p:nvSpPr>
          <p:cNvPr id="14" name="node:DB"/>
          <p:cNvSpPr/>
          <p:nvPr/>
        </p:nvSpPr>
        <p:spPr>
          <a:xfrm>
            <a:off x="6219654" y="5036245"/>
            <a:ext cx="1197491" cy="559697"/>
          </a:xfrm>
          <a:prstGeom prst="can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2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22" dirty="0"/>
          </a:p>
        </p:txBody>
      </p:sp>
      <p:sp>
        <p:nvSpPr>
          <p:cNvPr id="15" name="node:Cache"/>
          <p:cNvSpPr/>
          <p:nvPr/>
        </p:nvSpPr>
        <p:spPr>
          <a:xfrm>
            <a:off x="4774855" y="5036245"/>
            <a:ext cx="1197491" cy="559697"/>
          </a:xfrm>
          <a:prstGeom prst="can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2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92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boundaries</dc:title>
  <dc:subject>Editable Mermaid flowchart</dc:subject>
  <dc:creator>Mermaid to Slides</dc:creator>
  <cp:lastModifiedBy>Mermaid to Slides</cp:lastModifiedBy>
  <cp:revision>1</cp:revision>
  <dcterms:created xsi:type="dcterms:W3CDTF">2026-09-10T07:53:26Z</dcterms:created>
  <dcterms:modified xsi:type="dcterms:W3CDTF">2026-09-10T07:53:26Z</dcterms:modified>
</cp:coreProperties>
</file>